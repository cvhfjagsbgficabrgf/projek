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92" r:id="rId5"/>
    <p:sldId id="295" r:id="rId6"/>
    <p:sldId id="284" r:id="rId7"/>
    <p:sldId id="279" r:id="rId8"/>
    <p:sldId id="296" r:id="rId9"/>
    <p:sldId id="294" r:id="rId10"/>
    <p:sldId id="289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123" d="100"/>
          <a:sy n="123" d="100"/>
        </p:scale>
        <p:origin x="114" y="20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handoutMaster" Target="handoutMasters/handoutMaster1.xml" /><Relationship Id="rId18" Type="http://schemas.microsoft.com/office/2018/10/relationships/authors" Target="author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viewProps" Target="viewProp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60E8FDB-83A5-4E96-BCAE-C92BE1590FBB}" type="datetime1">
              <a:rPr lang="ru-RU" smtClean="0"/>
              <a:t>17.06.2026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B8DC1D1-B6C2-C644-8BF1-C34DBFFE1C7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9" name="Образ слайда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3D6CBF2-EBA7-4198-A6B5-9050B04F6F7D}" type="datetime1">
              <a:rPr lang="ru-RU" smtClean="0"/>
              <a:t>17.06.2026</a:t>
            </a:fld>
            <a:endParaRPr lang="ru-RU" dirty="0"/>
          </a:p>
        </p:txBody>
      </p:sp>
      <p:sp>
        <p:nvSpPr>
          <p:cNvPr id="12" name="Заметки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C384C781-2765-427A-A960-385CE0D0CAB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2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3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6551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4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F19F-D31F-664F-8BE9-D2DF88CF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570839-9BE8-5A38-4DD3-BB0EE050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D7E75B-C30D-74D8-488D-10C70630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1B315-CFCE-38B5-F2FE-94E5648D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5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72061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6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96002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7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392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cxnSp>
        <p:nvCxnSpPr>
          <p:cNvPr id="24" name="Прямая соединительная линия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47" name="Контент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изображение≈≈</a:t>
            </a:r>
          </a:p>
        </p:txBody>
      </p:sp>
      <p:sp>
        <p:nvSpPr>
          <p:cNvPr id="9" name="Полилиния: Фигура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7" name="Полилиния: фигура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26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6" name="Полилиния: Фигура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9" name="Полилиния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Название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Контент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Текст 47" descr="Щелкните значок, чтобы добавить фото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1" cap="all" baseline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Контент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Таблица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ru-RU" sz="2700">
                <a:latin typeface="+mn-lt"/>
              </a:defRPr>
            </a:lvl1pPr>
          </a:lstStyle>
          <a:p>
            <a:pPr rtl="0"/>
            <a:r>
              <a:rPr lang="ru-RU"/>
              <a:t>Щелкните, чтобы изменить стиль текста</a:t>
            </a:r>
          </a:p>
        </p:txBody>
      </p:sp>
      <p:sp>
        <p:nvSpPr>
          <p:cNvPr id="11" name="Подзаголовок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4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" name="Полилиния: Фигура 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Полилиния: Фигура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6" name="Полилиния: Фигура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Полилиния: Фигура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участника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52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3" name="Контент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Контент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1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участников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ru-RU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6" name="Контент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8" name="Контент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 dirty="0"/>
          </a:p>
        </p:txBody>
      </p:sp>
      <p:sp>
        <p:nvSpPr>
          <p:cNvPr id="4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6" name="Контент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9" name="Контент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0" name="Контент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2" name="Контент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5" name="Контент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8" name="Контент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ru-RU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столбцов со зна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Полилиния: Фигура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Полилиния: Фигура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Полилиния: Фигура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4" name="Контент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6" name="Контент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1" name="Контент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3" name="Контент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5" name="Контент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0" name="Контент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1" name="Контент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27" name="Контент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25" name="Контент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8" name="Контент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9" name="Контент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олилиния: Форма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Полилиния: Фигура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Полилиния: Фигура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9" name="Полилиния: Фигура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Полилиния: Фигура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1" name="Полилиния: Фигура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Полилиния: Фигура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3" name="Полилиния: Фигура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4" name="Полилиния: Фигура 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5" name="Полилиния: Фигура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6" name="Полилиния: Фигура 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Полилиния: Фигура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8" name="Полилиния: Фигура 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9" name="Полилиния: фигура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0" name="Полилиния: фигура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Полилиния: Фигура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Полилиния: фигура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3" name="Полилиния: Фигура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Полилиния: Фигура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6" name="Контент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8" name="Контент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0" name="Контент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2" name="Контент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4" name="Контент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Полилиния: Фигура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1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Контент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Рисунок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2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Объект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4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Объект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7" name="Полилиния: Фигура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18" name="Объект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19" name="Полилиния: Форма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0" name="Полилиния: Фигура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Шестиугольник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0" name="Шестиугольник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Шестиугольник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Шестиугольник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4" name="Полилиния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4" name="Шестиугольник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Шестиугольник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8" name="Шестиугольник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9" name="Объект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30" name="Объект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31" name="Объект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1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0" name="Полилиния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нт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4.xml" /><Relationship Id="rId5" Type="http://schemas.openxmlformats.org/officeDocument/2006/relationships/image" Target="../media/image4.svg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6.xml" /><Relationship Id="rId6" Type="http://schemas.openxmlformats.org/officeDocument/2006/relationships/image" Target="../media/image8.jpeg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551825" cy="205744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Генеральный план внедрения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2875052" cy="116066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dirty="0"/>
              <a:t>Карпачева Анастасия</a:t>
            </a:r>
          </a:p>
          <a:p>
            <a:r>
              <a:rPr lang="ru-RU" dirty="0"/>
              <a:t>Бояринцева Софья</a:t>
            </a:r>
          </a:p>
          <a:p>
            <a:r>
              <a:rPr lang="ru-RU" dirty="0"/>
              <a:t>24290907/2093</a:t>
            </a:r>
          </a:p>
        </p:txBody>
      </p:sp>
      <p:sp>
        <p:nvSpPr>
          <p:cNvPr id="10" name="Полилиния: Фигура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Полилиния: Фигура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061E5C6D-EE22-91AE-2CFB-9850ABF31BC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1035" r="21035"/>
          <a:stretch/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Рисунок 191" descr="Счеты (сплошная заливка)">
            <a:extLst>
              <a:ext uri="{FF2B5EF4-FFF2-40B4-BE49-F238E27FC236}">
                <a16:creationId xmlns:a16="http://schemas.microsoft.com/office/drawing/2014/main" id="{03D5E3D1-D423-EF5A-EE43-00CF1BD7FF6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2" r="5182"/>
          <a:stretch>
            <a:fillRect/>
          </a:stretch>
        </p:blipFill>
        <p:spPr/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/>
                <a:cs typeface="Times New Roman"/>
              </a:rPr>
              <a:t>Проблема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58693" y="1456154"/>
            <a:ext cx="5357646" cy="1531996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600" dirty="0">
                <a:latin typeface="Times New Roman"/>
                <a:cs typeface="Times New Roman"/>
              </a:rPr>
              <a:t>Нашей проблемой стало то что студентам часто приходилось обращаться к старшекурсникам или адаптерам для того чтобы узнать информацию о преподавателе или предмете, самой информацией обмениваются в чатах из-за чего информация терялась или была недостоверной. </a:t>
            </a:r>
            <a:endParaRPr lang="ru-RU" dirty="0"/>
          </a:p>
        </p:txBody>
      </p:sp>
      <p:pic>
        <p:nvPicPr>
          <p:cNvPr id="194" name="Рисунок 193" descr="Линейчатая диаграмма с трендом повышения (сплошная заливка)">
            <a:extLst>
              <a:ext uri="{FF2B5EF4-FFF2-40B4-BE49-F238E27FC236}">
                <a16:creationId xmlns:a16="http://schemas.microsoft.com/office/drawing/2014/main" id="{FAB9DE8A-4935-A3E0-0122-F76CDEAC29D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61" r="2661"/>
          <a:stretch>
            <a:fillRect/>
          </a:stretch>
        </p:blipFill>
        <p:spPr/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 sz="1600" dirty="0">
              <a:solidFill>
                <a:srgbClr val="0F253E"/>
              </a:solidFill>
              <a:latin typeface="Times New Roman"/>
              <a:cs typeface="Times New Roman"/>
            </a:endParaRPr>
          </a:p>
          <a:p>
            <a:r>
              <a:rPr lang="ru-RU" dirty="0">
                <a:latin typeface="Times New Roman"/>
                <a:cs typeface="Posterama"/>
              </a:rPr>
              <a:t>Цель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EB5763E-8BC0-F6C3-3814-6649A828C0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71608" y="3419684"/>
            <a:ext cx="5344731" cy="1177789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600" dirty="0">
                <a:latin typeface="Times New Roman"/>
                <a:cs typeface="Times New Roman"/>
              </a:rPr>
              <a:t>улучшение условий обучения и «моральной» подготовки к парам студентов СПБПУ СПО. Улучшение системы обмена информацией о преподавателях и их предметах между студентами ИСПО.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ru-RU" dirty="0"/>
          </a:p>
          <a:p>
            <a:pPr rtl="0"/>
            <a:endParaRPr lang="ru-RU" dirty="0"/>
          </a:p>
        </p:txBody>
      </p:sp>
      <p:pic>
        <p:nvPicPr>
          <p:cNvPr id="196" name="Рисунок 195" descr="Звено цепи (сплошная заливка)">
            <a:extLst>
              <a:ext uri="{FF2B5EF4-FFF2-40B4-BE49-F238E27FC236}">
                <a16:creationId xmlns:a16="http://schemas.microsoft.com/office/drawing/2014/main" id="{B21D7164-3991-2960-0F80-CB302359CD8D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28" r="2528"/>
          <a:stretch>
            <a:fillRect/>
          </a:stretch>
        </p:blipFill>
        <p:spPr/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D3E02E0C-26E8-8160-D35F-2398015C05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/>
                <a:cs typeface="Times New Roman"/>
              </a:rPr>
              <a:t>Метод</a:t>
            </a:r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600" dirty="0">
                <a:latin typeface="Times New Roman"/>
                <a:cs typeface="Times New Roman"/>
              </a:rPr>
              <a:t>Стратегия «франчайзинга» </a:t>
            </a:r>
            <a:endParaRPr lang="ru-RU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dirty="0" smtClean="0"/>
              <a:pPr rtl="0"/>
              <a:t>2</a:t>
            </a:fld>
            <a:r>
              <a:rPr lang="ru-RU" altLang="zh-CN"/>
              <a:t>/7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F123E42-D19E-3172-732D-A8C0E0A1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93" y="797511"/>
            <a:ext cx="4472037" cy="1838462"/>
          </a:xfrm>
        </p:spPr>
        <p:txBody>
          <a:bodyPr/>
          <a:lstStyle/>
          <a:p>
            <a:r>
              <a:rPr lang="ru-RU" sz="6000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Роли и их задачи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9327" y="2067142"/>
            <a:ext cx="1338904" cy="8523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Заказчик</a:t>
            </a:r>
            <a:endParaRPr lang="ru-RU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2242" y="2915968"/>
            <a:ext cx="1325990" cy="2979025"/>
          </a:xfrm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200" dirty="0">
                <a:latin typeface="Times New Roman"/>
                <a:cs typeface="Times New Roman"/>
              </a:rPr>
              <a:t>анализ и подготовка, оценка результатов, рабочий запуск (внедрение в эксплуатацию)</a:t>
            </a:r>
            <a:endParaRPr lang="ru-RU" dirty="0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698428" y="2053289"/>
            <a:ext cx="1352758" cy="86621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Менеджер проекта</a:t>
            </a:r>
            <a:endParaRPr lang="ru-RU" dirty="0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697975" y="2916907"/>
            <a:ext cx="1354569" cy="2973695"/>
          </a:xfrm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200" dirty="0">
                <a:latin typeface="Times New Roman"/>
                <a:cs typeface="Times New Roman"/>
              </a:rPr>
              <a:t> контроль проекта, обучение сотрудников</a:t>
            </a:r>
            <a:endParaRPr lang="ru-RU"/>
          </a:p>
          <a:p>
            <a:endParaRPr lang="ru-RU" sz="1300" dirty="0"/>
          </a:p>
          <a:p>
            <a:pPr rtl="0"/>
            <a:endParaRPr lang="ru-RU" sz="1300" dirty="0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251385" y="2053289"/>
            <a:ext cx="1352758" cy="86621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Разработчик</a:t>
            </a:r>
            <a:endParaRPr lang="ru-RU" dirty="0"/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252289" y="2915968"/>
            <a:ext cx="1339844" cy="2967987"/>
          </a:xfrm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создание ПО, </a:t>
            </a:r>
            <a:r>
              <a:rPr lang="ru-RU" sz="1200" dirty="0">
                <a:latin typeface="Times New Roman"/>
                <a:cs typeface="Times New Roman"/>
              </a:rPr>
              <a:t>настройка и адаптация ПО</a:t>
            </a:r>
            <a:endParaRPr lang="ru-RU" dirty="0"/>
          </a:p>
          <a:p>
            <a:pPr rtl="0"/>
            <a:endParaRPr lang="ru-RU" sz="1300" dirty="0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748923" y="2053289"/>
            <a:ext cx="1352758" cy="86621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Тестировщик</a:t>
            </a:r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749373" y="2915968"/>
            <a:ext cx="1352759" cy="2979025"/>
          </a:xfrm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200" dirty="0">
                <a:latin typeface="Times New Roman"/>
                <a:cs typeface="Times New Roman"/>
              </a:rPr>
              <a:t>тестирование ПО</a:t>
            </a:r>
            <a:endParaRPr lang="ru-RU" dirty="0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9303DF4A-6DF5-9082-4ABE-2B0D5433359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218751" y="2067142"/>
            <a:ext cx="1352758" cy="85236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1400" dirty="0">
                <a:latin typeface="Times New Roman"/>
                <a:cs typeface="Times New Roman"/>
              </a:rPr>
              <a:t>Архитектор</a:t>
            </a:r>
            <a:endParaRPr lang="ru-RU" dirty="0"/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0930742F-3693-100E-944F-A04AB532014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218752" y="2915968"/>
            <a:ext cx="1351819" cy="2979025"/>
          </a:xfrm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200" dirty="0">
                <a:latin typeface="Times New Roman"/>
                <a:cs typeface="Times New Roman"/>
              </a:rPr>
              <a:t>проектирование архитектуры,</a:t>
            </a:r>
            <a:r>
              <a:rPr lang="ru-RU" sz="140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разработка технического задания</a:t>
            </a:r>
            <a:endParaRPr lang="ru-RU" dirty="0"/>
          </a:p>
          <a:p>
            <a:pPr rtl="0"/>
            <a:endParaRPr lang="ru-RU" sz="13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520" y="2052771"/>
            <a:ext cx="11873345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+mn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dirty="0" smtClean="0"/>
              <a:pPr rtl="0"/>
              <a:t>3</a:t>
            </a:fld>
            <a:r>
              <a:rPr lang="ru-RU" altLang="zh-CN"/>
              <a:t>/7</a:t>
            </a:r>
            <a:endParaRPr lang="ru-RU" altLang="zh-CN" dirty="0"/>
          </a:p>
        </p:txBody>
      </p:sp>
      <p:sp>
        <p:nvSpPr>
          <p:cNvPr id="3" name="Текст 57">
            <a:extLst>
              <a:ext uri="{FF2B5EF4-FFF2-40B4-BE49-F238E27FC236}">
                <a16:creationId xmlns:a16="http://schemas.microsoft.com/office/drawing/2014/main" id="{C0D80E8E-A277-BD50-AA25-CC7EA09771E7}"/>
              </a:ext>
            </a:extLst>
          </p:cNvPr>
          <p:cNvSpPr txBox="1">
            <a:spLocks/>
          </p:cNvSpPr>
          <p:nvPr/>
        </p:nvSpPr>
        <p:spPr>
          <a:xfrm>
            <a:off x="7687334" y="2915967"/>
            <a:ext cx="1351819" cy="2979025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>
                <a:latin typeface="Times New Roman"/>
                <a:cs typeface="Times New Roman"/>
              </a:rPr>
              <a:t>анализ и подготовка,</a:t>
            </a:r>
            <a:r>
              <a:rPr lang="ru-RU" sz="1200" b="1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разработка технического задания, сопровождение проекта на всех этапах реализации;  анализ ключевых метрик, визуализация данных;</a:t>
            </a:r>
            <a:r>
              <a:rPr lang="ru-RU" sz="1200" b="1" dirty="0">
                <a:latin typeface="Times New Roman"/>
                <a:cs typeface="Times New Roman"/>
              </a:rPr>
              <a:t> </a:t>
            </a:r>
            <a:r>
              <a:rPr lang="ru-RU" sz="1200" dirty="0">
                <a:latin typeface="Times New Roman"/>
                <a:cs typeface="Times New Roman"/>
              </a:rPr>
              <a:t> выявление потребностей, </a:t>
            </a:r>
          </a:p>
        </p:txBody>
      </p:sp>
      <p:sp>
        <p:nvSpPr>
          <p:cNvPr id="7" name="Текст 57">
            <a:extLst>
              <a:ext uri="{FF2B5EF4-FFF2-40B4-BE49-F238E27FC236}">
                <a16:creationId xmlns:a16="http://schemas.microsoft.com/office/drawing/2014/main" id="{35DB57CA-97AD-CE5D-470E-2C700901F295}"/>
              </a:ext>
            </a:extLst>
          </p:cNvPr>
          <p:cNvSpPr txBox="1">
            <a:spLocks/>
          </p:cNvSpPr>
          <p:nvPr/>
        </p:nvSpPr>
        <p:spPr>
          <a:xfrm>
            <a:off x="9183624" y="2915967"/>
            <a:ext cx="1351819" cy="296704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>
                <a:latin typeface="Times New Roman"/>
                <a:cs typeface="Times New Roman"/>
              </a:rPr>
              <a:t>проектирование пользовательских интерфейсов, проверка созданных и изменённых графических компонентов </a:t>
            </a:r>
            <a:endParaRPr lang="ru-RU" dirty="0"/>
          </a:p>
          <a:p>
            <a:endParaRPr lang="ru-RU" sz="1300" dirty="0"/>
          </a:p>
          <a:p>
            <a:endParaRPr lang="ru-RU" sz="1300" dirty="0"/>
          </a:p>
        </p:txBody>
      </p:sp>
      <p:sp>
        <p:nvSpPr>
          <p:cNvPr id="9" name="Текст 57">
            <a:extLst>
              <a:ext uri="{FF2B5EF4-FFF2-40B4-BE49-F238E27FC236}">
                <a16:creationId xmlns:a16="http://schemas.microsoft.com/office/drawing/2014/main" id="{B69D6224-D2DD-230B-2485-EA1A6BB4E64D}"/>
              </a:ext>
            </a:extLst>
          </p:cNvPr>
          <p:cNvSpPr txBox="1">
            <a:spLocks/>
          </p:cNvSpPr>
          <p:nvPr/>
        </p:nvSpPr>
        <p:spPr>
          <a:xfrm>
            <a:off x="10680856" y="2915028"/>
            <a:ext cx="1351819" cy="2979964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>
                <a:latin typeface="Times New Roman"/>
                <a:cs typeface="Times New Roman"/>
              </a:rPr>
              <a:t>создание технических руководств и инструкций, корректура и редактирование</a:t>
            </a:r>
            <a:endParaRPr lang="ru-RU" dirty="0"/>
          </a:p>
          <a:p>
            <a:endParaRPr lang="ru-RU" sz="1300" dirty="0"/>
          </a:p>
          <a:p>
            <a:endParaRPr lang="ru-RU" sz="1300" dirty="0"/>
          </a:p>
        </p:txBody>
      </p:sp>
      <p:sp>
        <p:nvSpPr>
          <p:cNvPr id="11" name="Текст 47">
            <a:extLst>
              <a:ext uri="{FF2B5EF4-FFF2-40B4-BE49-F238E27FC236}">
                <a16:creationId xmlns:a16="http://schemas.microsoft.com/office/drawing/2014/main" id="{37C0E794-6691-5C93-58E5-F9EAA726D524}"/>
              </a:ext>
            </a:extLst>
          </p:cNvPr>
          <p:cNvSpPr txBox="1">
            <a:spLocks/>
          </p:cNvSpPr>
          <p:nvPr/>
        </p:nvSpPr>
        <p:spPr>
          <a:xfrm>
            <a:off x="7687333" y="2067142"/>
            <a:ext cx="1352758" cy="852365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lang="ru-RU" sz="1800" b="1" i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latin typeface="Times New Roman"/>
                <a:cs typeface="Times New Roman"/>
              </a:rPr>
              <a:t>Бизнес-аналитик</a:t>
            </a:r>
            <a:r>
              <a:rPr lang="ru-RU" sz="1000" b="0" dirty="0">
                <a:latin typeface="Times New Roman"/>
                <a:cs typeface="Times New Roman"/>
              </a:rPr>
              <a:t> (веб-аналитик, системный аналитик)</a:t>
            </a:r>
            <a:endParaRPr lang="ru-RU" sz="1000"/>
          </a:p>
        </p:txBody>
      </p:sp>
      <p:sp>
        <p:nvSpPr>
          <p:cNvPr id="13" name="Текст 47">
            <a:extLst>
              <a:ext uri="{FF2B5EF4-FFF2-40B4-BE49-F238E27FC236}">
                <a16:creationId xmlns:a16="http://schemas.microsoft.com/office/drawing/2014/main" id="{B872D064-3F37-08D3-0407-EA176DCDB6C9}"/>
              </a:ext>
            </a:extLst>
          </p:cNvPr>
          <p:cNvSpPr txBox="1">
            <a:spLocks/>
          </p:cNvSpPr>
          <p:nvPr/>
        </p:nvSpPr>
        <p:spPr>
          <a:xfrm>
            <a:off x="9183624" y="2039433"/>
            <a:ext cx="1352758" cy="852365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lang="ru-RU" sz="1800" b="1" i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latin typeface="Times New Roman"/>
                <a:cs typeface="Times New Roman"/>
              </a:rPr>
              <a:t>Специалист по пользовательскому интерфейсу</a:t>
            </a:r>
            <a:endParaRPr lang="ru-RU" sz="1000" dirty="0"/>
          </a:p>
        </p:txBody>
      </p:sp>
      <p:sp>
        <p:nvSpPr>
          <p:cNvPr id="15" name="Текст 47">
            <a:extLst>
              <a:ext uri="{FF2B5EF4-FFF2-40B4-BE49-F238E27FC236}">
                <a16:creationId xmlns:a16="http://schemas.microsoft.com/office/drawing/2014/main" id="{9F408FE7-582E-26A9-9B25-96A707AE574D}"/>
              </a:ext>
            </a:extLst>
          </p:cNvPr>
          <p:cNvSpPr txBox="1">
            <a:spLocks/>
          </p:cNvSpPr>
          <p:nvPr/>
        </p:nvSpPr>
        <p:spPr>
          <a:xfrm>
            <a:off x="10693769" y="2053287"/>
            <a:ext cx="1352758" cy="852365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lang="ru-RU" sz="1800" b="1" i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Times New Roman"/>
                <a:cs typeface="Times New Roman"/>
              </a:rPr>
              <a:t>Технический писатель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89" y="256589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Факторы риска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4</a:t>
            </a:fld>
            <a:r>
              <a:rPr lang="ru-RU" altLang="zh-CN"/>
              <a:t>/7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CDE97B48-50CE-FA65-0F06-5708627A7963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2780464520"/>
              </p:ext>
            </p:extLst>
          </p:nvPr>
        </p:nvGraphicFramePr>
        <p:xfrm>
          <a:off x="245389" y="1007389"/>
          <a:ext cx="11703102" cy="5178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2981">
                  <a:extLst>
                    <a:ext uri="{9D8B030D-6E8A-4147-A177-3AD203B41FA5}">
                      <a16:colId xmlns:a16="http://schemas.microsoft.com/office/drawing/2014/main" val="2211286575"/>
                    </a:ext>
                  </a:extLst>
                </a:gridCol>
                <a:gridCol w="2673457">
                  <a:extLst>
                    <a:ext uri="{9D8B030D-6E8A-4147-A177-3AD203B41FA5}">
                      <a16:colId xmlns:a16="http://schemas.microsoft.com/office/drawing/2014/main" val="1309587277"/>
                    </a:ext>
                  </a:extLst>
                </a:gridCol>
                <a:gridCol w="5826664">
                  <a:extLst>
                    <a:ext uri="{9D8B030D-6E8A-4147-A177-3AD203B41FA5}">
                      <a16:colId xmlns:a16="http://schemas.microsoft.com/office/drawing/2014/main" val="2315973721"/>
                    </a:ext>
                  </a:extLst>
                </a:gridCol>
              </a:tblGrid>
              <a:tr h="271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Риск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Допустимость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Управление риском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116567"/>
                  </a:ext>
                </a:extLst>
              </a:tr>
              <a:tr h="401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Проблемы установки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Приемлемый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Заказчиком является технический колледж в котором достаточно разных специалистов (преподавателей), которые смогут проконтролировать установку.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835843"/>
                  </a:ext>
                </a:extLst>
              </a:tr>
              <a:tr h="35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Возникновение новых требований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Приемлемый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Благодаря спиральной модели </a:t>
                      </a:r>
                      <a:r>
                        <a:rPr lang="ru-RU" sz="1400" err="1">
                          <a:effectLst/>
                          <a:latin typeface="Times New Roman"/>
                        </a:rPr>
                        <a:t>жц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, мы сможем без проблем внедрять новые идеи на каждом промежуточном этапе.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287622"/>
                  </a:ext>
                </a:extLst>
              </a:tr>
              <a:tr h="80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Изменение окружающей среды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Не желательный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Организуем систему мониторинга за обновлением требований аппаратного обеспечения и организованное ведение, и хранение документации (чтобы при необходимости можно было быстро вернуть к исходному продукту не тратя лишнего времени), регулярно пересматривать и обновлять стратегии.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911011"/>
                  </a:ext>
                </a:extLst>
              </a:tr>
              <a:tr h="401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Недостатки при обработке данных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Не допустимый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Можно проводить периодические ревизии данных, контролировать ключевые параметры данных, вести журнал выявленных ошибок и их устранения.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0817"/>
                  </a:ext>
                </a:extLst>
              </a:tr>
              <a:tr h="957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Привлечение в разработку студентов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Приемлемый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Т.к. студентами будут люди со старших курсов специальностей привлекаемых к проекту, то их будет легче втянуть в процесс и обучить, также благодаря тому, что наша модель жизненного цикла имеет возможность принимать на каждом уровне развития </a:t>
                      </a:r>
                      <a:r>
                        <a:rPr lang="ru-RU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сотрудников максимально совместимых с ней с каждым этапом студенты всё больше будут осведомлены в необходимых сферах.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946153"/>
                  </a:ext>
                </a:extLst>
              </a:tr>
              <a:tr h="71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Потеря в качестве конечного продукта (или увеличение стоимости проекта)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Не желательный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Провести тщательное моделирование существующих бизнес-процессов, активное взаимодействие с заказчиком для постановки наиболее чётких задач для каждого уровня развития проекта, ведение документации о всех происходящих процессах и изменениях в проекте.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086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AB9C-91EB-700A-3493-7CD7C11F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381815E-966E-E20F-78EC-DB7216C1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192013"/>
            <a:ext cx="10838135" cy="78615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/>
              <a:t>Диаграмма</a:t>
            </a:r>
            <a:r>
              <a:rPr lang="ru-RU" dirty="0"/>
              <a:t> </a:t>
            </a:r>
            <a:r>
              <a:rPr lang="ru-RU" err="1"/>
              <a:t>Ганта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D9C92B-06B7-4D9A-C412-82980D03FB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489140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altLang="zh-CN" dirty="0"/>
              <a:t>5/7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4AF3522-C268-88A7-A467-9A6F5EB04AE4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2977003014"/>
              </p:ext>
            </p:extLst>
          </p:nvPr>
        </p:nvGraphicFramePr>
        <p:xfrm>
          <a:off x="141906" y="1007471"/>
          <a:ext cx="11923325" cy="55253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2305">
                  <a:extLst>
                    <a:ext uri="{9D8B030D-6E8A-4147-A177-3AD203B41FA5}">
                      <a16:colId xmlns:a16="http://schemas.microsoft.com/office/drawing/2014/main" val="3055906682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277287666"/>
                    </a:ext>
                  </a:extLst>
                </a:gridCol>
                <a:gridCol w="847148">
                  <a:extLst>
                    <a:ext uri="{9D8B030D-6E8A-4147-A177-3AD203B41FA5}">
                      <a16:colId xmlns:a16="http://schemas.microsoft.com/office/drawing/2014/main" val="2500904524"/>
                    </a:ext>
                  </a:extLst>
                </a:gridCol>
                <a:gridCol w="930875">
                  <a:extLst>
                    <a:ext uri="{9D8B030D-6E8A-4147-A177-3AD203B41FA5}">
                      <a16:colId xmlns:a16="http://schemas.microsoft.com/office/drawing/2014/main" val="1287290649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674132113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2895319063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559726522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2959652942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740844934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078139026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2418928717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3987260588"/>
                    </a:ext>
                  </a:extLst>
                </a:gridCol>
                <a:gridCol w="310778">
                  <a:extLst>
                    <a:ext uri="{9D8B030D-6E8A-4147-A177-3AD203B41FA5}">
                      <a16:colId xmlns:a16="http://schemas.microsoft.com/office/drawing/2014/main" val="1786710493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592815349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3682169109"/>
                    </a:ext>
                  </a:extLst>
                </a:gridCol>
                <a:gridCol w="332662">
                  <a:extLst>
                    <a:ext uri="{9D8B030D-6E8A-4147-A177-3AD203B41FA5}">
                      <a16:colId xmlns:a16="http://schemas.microsoft.com/office/drawing/2014/main" val="1511697273"/>
                    </a:ext>
                  </a:extLst>
                </a:gridCol>
                <a:gridCol w="288159">
                  <a:extLst>
                    <a:ext uri="{9D8B030D-6E8A-4147-A177-3AD203B41FA5}">
                      <a16:colId xmlns:a16="http://schemas.microsoft.com/office/drawing/2014/main" val="4003621398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837124118"/>
                    </a:ext>
                  </a:extLst>
                </a:gridCol>
                <a:gridCol w="310046">
                  <a:extLst>
                    <a:ext uri="{9D8B030D-6E8A-4147-A177-3AD203B41FA5}">
                      <a16:colId xmlns:a16="http://schemas.microsoft.com/office/drawing/2014/main" val="3805531711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4055647824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4281273080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630348234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719717550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745192295"/>
                    </a:ext>
                  </a:extLst>
                </a:gridCol>
                <a:gridCol w="415828">
                  <a:extLst>
                    <a:ext uri="{9D8B030D-6E8A-4147-A177-3AD203B41FA5}">
                      <a16:colId xmlns:a16="http://schemas.microsoft.com/office/drawing/2014/main" val="3490649708"/>
                    </a:ext>
                  </a:extLst>
                </a:gridCol>
              </a:tblGrid>
              <a:tr h="165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  <a:tabLst>
                          <a:tab pos="986155" algn="ctr"/>
                        </a:tabLs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Июль 2026 г.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Август 2026 г.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09943"/>
                  </a:ext>
                </a:extLst>
              </a:tr>
              <a:tr h="40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Этапы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Кол-во дней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Дата начала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Дата окончания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27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28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29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30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31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3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4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5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7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8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9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10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12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13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14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15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633494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Анализ предметной области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26.07.2026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26.07.2026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200" b="1" dirty="0">
                        <a:effectLst/>
                        <a:highlight>
                          <a:srgbClr val="FFFF00"/>
                        </a:highlight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120401"/>
                  </a:ext>
                </a:extLst>
              </a:tr>
              <a:tr h="40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Проектирование структуры организации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26.07.2026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26.07.2026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88038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Моделирование бизнес-процессов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2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27.07.2026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28.07.2026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309676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Разработка ИТ-инфраструктуры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2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28.07.2026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29.07.2026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520935"/>
                  </a:ext>
                </a:extLst>
              </a:tr>
              <a:tr h="544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Расчёт экономического эффекта от внедрения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30.07.2026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30.07.2026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37898"/>
                  </a:ext>
                </a:extLst>
              </a:tr>
              <a:tr h="14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Создание ТЗ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30.07.2026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30.07.2026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265335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Разработка веб-сайта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4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31.07.2026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03.08.2026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6703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Составление документации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04.08.2026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04.08.2026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757228"/>
                  </a:ext>
                </a:extLst>
              </a:tr>
              <a:tr h="40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Составление методики тестирования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05.08.2026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05.08.2026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211150"/>
                  </a:ext>
                </a:extLst>
              </a:tr>
              <a:tr h="14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Тестирование ПО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3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06.08.2026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08.08.2026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02580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Обучение сотрудников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4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09.08.2026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12.08.2026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35624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Настройка и адаптация ПО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3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12.08.2026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14.08.2026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479272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Ввод в эксплуатацию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effectLst/>
                          <a:latin typeface="Times New Roman"/>
                        </a:rPr>
                        <a:t>15.08.2026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effectLst/>
                          <a:latin typeface="Times New Roman"/>
                        </a:rPr>
                        <a:t>15.08.2026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265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10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78" y="874636"/>
            <a:ext cx="4669613" cy="168890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6000" dirty="0"/>
              <a:t>Вывод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84915" y="3178405"/>
            <a:ext cx="6829539" cy="2528397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800" dirty="0">
                <a:solidFill>
                  <a:srgbClr val="000000"/>
                </a:solidFill>
                <a:latin typeface="Times New Roman"/>
                <a:cs typeface="Times New Roman"/>
              </a:rPr>
              <a:t>Мы разработали генеральный план выполнения нашего проекта, в котором рассмотрели задачи необходимые нам для реализации проекта, выяснили и распределили какие задачи выполняет каждая выбранная нами роль и как они между собой взаимодействуют, учли и рассмотрели наиболее важные для нашего проекта факторы риска и выяснили, как ими управлять (как их решить), а также составили диаграмму </a:t>
            </a:r>
            <a:r>
              <a:rPr lang="ru-RU" sz="1800" err="1">
                <a:solidFill>
                  <a:srgbClr val="000000"/>
                </a:solidFill>
                <a:latin typeface="Times New Roman"/>
                <a:cs typeface="Times New Roman"/>
              </a:rPr>
              <a:t>Ганта</a:t>
            </a:r>
            <a:r>
              <a:rPr lang="ru-RU" sz="1800" dirty="0">
                <a:solidFill>
                  <a:srgbClr val="000000"/>
                </a:solidFill>
                <a:latin typeface="Times New Roman"/>
                <a:cs typeface="Times New Roman"/>
              </a:rPr>
              <a:t>, в которой примерно расписали сроки выполнения нашего проекта. </a:t>
            </a:r>
            <a:endParaRPr lang="ru-RU" sz="1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/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/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dirty="0" smtClean="0"/>
              <a:pPr rtl="0"/>
              <a:t>6</a:t>
            </a:fld>
            <a:r>
              <a:rPr lang="ru-RU" altLang="zh-CN"/>
              <a:t>/7</a:t>
            </a:r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Спасибо!</a:t>
            </a:r>
          </a:p>
        </p:txBody>
      </p:sp>
      <p:pic>
        <p:nvPicPr>
          <p:cNvPr id="14" name="Рисунок 13" descr="Люди, работающие в офисе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Рисунок 15" descr="Люди в офисе обсуждают работу рядом с ноутбуком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Рисунок 17" descr="Макет дизайна веб-сайта: наброски на белой бумаге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Текст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Карпачева Анастасия</a:t>
            </a:r>
          </a:p>
          <a:p>
            <a:r>
              <a:rPr lang="ru-RU" dirty="0"/>
              <a:t>Бояринцева Софья</a:t>
            </a:r>
          </a:p>
          <a:p>
            <a:r>
              <a:rPr lang="ru-RU" dirty="0"/>
              <a:t>24290907/2093</a:t>
            </a:r>
          </a:p>
          <a:p>
            <a:endParaRPr lang="ru-RU" dirty="0"/>
          </a:p>
        </p:txBody>
      </p:sp>
      <p:pic>
        <p:nvPicPr>
          <p:cNvPr id="28" name="Рисунок 27" descr="Женщина-бизнесмен смотрит на наклейки на стене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Другие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Arial Black"/>
        <a:ea typeface=""/>
        <a:cs typeface="Arial Black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510</Words>
  <Application>Microsoft Office PowerPoint</Application>
  <PresentationFormat>Широкоэкранный</PresentationFormat>
  <Paragraphs>171</Paragraphs>
  <Slides>7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Другие</vt:lpstr>
      <vt:lpstr>Генеральный план внедрения</vt:lpstr>
      <vt:lpstr>Введение</vt:lpstr>
      <vt:lpstr>Роли и их задачи</vt:lpstr>
      <vt:lpstr>Факторы риска</vt:lpstr>
      <vt:lpstr>Диаграмма Ганта</vt:lpstr>
      <vt:lpstr>Вывод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Генеральный план внедрения</dc:title>
  <dc:creator/>
  <cp:lastModifiedBy>Анастасия Карпачева</cp:lastModifiedBy>
  <cp:revision>294</cp:revision>
  <dcterms:created xsi:type="dcterms:W3CDTF">2025-10-09T22:47:23Z</dcterms:created>
  <dcterms:modified xsi:type="dcterms:W3CDTF">2026-06-17T08:50:32Z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